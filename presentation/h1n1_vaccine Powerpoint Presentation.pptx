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A8DDB15E-5DEE-4166-9C25-CA073F90AE11}" type="datetimeFigureOut">
              <a:rPr lang="en-KE" smtClean="0"/>
              <a:t>22/03/2026</a:t>
            </a:fld>
            <a:endParaRPr lang="en-KE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KE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FE172EE-2084-458E-A732-B8EE3385FAA0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1228702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DB15E-5DEE-4166-9C25-CA073F90AE11}" type="datetimeFigureOut">
              <a:rPr lang="en-KE" smtClean="0"/>
              <a:t>22/03/2026</a:t>
            </a:fld>
            <a:endParaRPr lang="en-K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172EE-2084-458E-A732-B8EE3385FAA0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050454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8DDB15E-5DEE-4166-9C25-CA073F90AE11}" type="datetimeFigureOut">
              <a:rPr lang="en-KE" smtClean="0"/>
              <a:t>22/03/2026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6FE172EE-2084-458E-A732-B8EE3385FAA0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0215053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DB15E-5DEE-4166-9C25-CA073F90AE11}" type="datetimeFigureOut">
              <a:rPr lang="en-KE" smtClean="0"/>
              <a:t>22/03/2026</a:t>
            </a:fld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172EE-2084-458E-A732-B8EE3385FAA0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4133216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DB15E-5DEE-4166-9C25-CA073F90AE11}" type="datetimeFigureOut">
              <a:rPr lang="en-KE" smtClean="0"/>
              <a:t>22/03/2026</a:t>
            </a:fld>
            <a:endParaRPr lang="en-K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172EE-2084-458E-A732-B8EE3385FAA0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4086446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DB15E-5DEE-4166-9C25-CA073F90AE11}" type="datetimeFigureOut">
              <a:rPr lang="en-KE" smtClean="0"/>
              <a:t>22/03/2026</a:t>
            </a:fld>
            <a:endParaRPr lang="en-K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172EE-2084-458E-A732-B8EE3385FAA0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053558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DB15E-5DEE-4166-9C25-CA073F90AE11}" type="datetimeFigureOut">
              <a:rPr lang="en-KE" smtClean="0"/>
              <a:t>22/03/2026</a:t>
            </a:fld>
            <a:endParaRPr lang="en-K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172EE-2084-458E-A732-B8EE3385FAA0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343490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DB15E-5DEE-4166-9C25-CA073F90AE11}" type="datetimeFigureOut">
              <a:rPr lang="en-KE" smtClean="0"/>
              <a:t>22/03/2026</a:t>
            </a:fld>
            <a:endParaRPr lang="en-KE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KE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FE172EE-2084-458E-A732-B8EE3385FAA0}" type="slidenum">
              <a:rPr lang="en-KE" smtClean="0"/>
              <a:t>‹#›</a:t>
            </a:fld>
            <a:endParaRPr lang="en-KE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89436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A8DDB15E-5DEE-4166-9C25-CA073F90AE11}" type="datetimeFigureOut">
              <a:rPr lang="en-KE" smtClean="0"/>
              <a:t>22/03/2026</a:t>
            </a:fld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K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FE172EE-2084-458E-A732-B8EE3385FAA0}" type="slidenum">
              <a:rPr lang="en-KE" smtClean="0"/>
              <a:t>‹#›</a:t>
            </a:fld>
            <a:endParaRPr lang="en-KE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452422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DB15E-5DEE-4166-9C25-CA073F90AE11}" type="datetimeFigureOut">
              <a:rPr lang="en-KE" smtClean="0"/>
              <a:t>22/03/2026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172EE-2084-458E-A732-B8EE3385FAA0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441202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DB15E-5DEE-4166-9C25-CA073F90AE11}" type="datetimeFigureOut">
              <a:rPr lang="en-KE" smtClean="0"/>
              <a:t>22/03/2026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172EE-2084-458E-A732-B8EE3385FAA0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633715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A8DDB15E-5DEE-4166-9C25-CA073F90AE11}" type="datetimeFigureOut">
              <a:rPr lang="en-KE" smtClean="0"/>
              <a:t>22/03/2026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FE172EE-2084-458E-A732-B8EE3385FAA0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931874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26EBD-82A9-4491-ADF1-F2627B489C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2011679"/>
            <a:ext cx="9448800" cy="1944303"/>
          </a:xfrm>
        </p:spPr>
        <p:txBody>
          <a:bodyPr>
            <a:normAutofit/>
          </a:bodyPr>
          <a:lstStyle/>
          <a:p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pperplate Gothic Bold" panose="020E0705020206020404" pitchFamily="34" charset="0"/>
              </a:rPr>
              <a:t>H1N1 Vaccine Prediction</a:t>
            </a:r>
            <a:endParaRPr lang="en-KE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pperplate Gothic Bold" panose="020E07050202060204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E17228-D24C-48E2-B9E6-257F07EAE2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4161590"/>
            <a:ext cx="9448800" cy="685800"/>
          </a:xfrm>
        </p:spPr>
        <p:txBody>
          <a:bodyPr>
            <a:normAutofit fontScale="70000" lnSpcReduction="20000"/>
          </a:bodyPr>
          <a:lstStyle/>
          <a:p>
            <a:r>
              <a:rPr lang="en-US" sz="3200" b="1" dirty="0">
                <a:latin typeface="Arial Black" panose="020B0A04020102020204" pitchFamily="34" charset="0"/>
              </a:rPr>
              <a:t>By: Andrew Nyakiba</a:t>
            </a:r>
          </a:p>
          <a:p>
            <a:r>
              <a:rPr lang="en-US" sz="3200" b="1" dirty="0">
                <a:latin typeface="Arial Black" panose="020B0A04020102020204" pitchFamily="34" charset="0"/>
              </a:rPr>
              <a:t>DATE: 21/03/2026</a:t>
            </a:r>
            <a:endParaRPr lang="en-KE" sz="32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7714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1CAF2-C080-44D7-A69E-3E6496A21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9039"/>
          </a:xfrm>
        </p:spPr>
        <p:txBody>
          <a:bodyPr>
            <a:normAutofit/>
          </a:bodyPr>
          <a:lstStyle/>
          <a:p>
            <a:pPr algn="ctr"/>
            <a:r>
              <a:rPr lang="en-US" sz="6000" b="1" u="sng" dirty="0">
                <a:latin typeface="Copperplate Gothic Bold" panose="020E0705020206020404" pitchFamily="34" charset="0"/>
              </a:rPr>
              <a:t>Overview</a:t>
            </a:r>
            <a:endParaRPr lang="en-KE" sz="6000" b="1" u="sng" dirty="0">
              <a:latin typeface="Copperplate Gothic Bold" panose="020E07050202060204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47ACF-B42F-44BC-BEF6-C6BA1AC33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0042"/>
            <a:ext cx="10515600" cy="4636921"/>
          </a:xfrm>
        </p:spPr>
        <p:txBody>
          <a:bodyPr/>
          <a:lstStyle/>
          <a:p>
            <a:pPr marL="0" indent="0">
              <a:buNone/>
            </a:pPr>
            <a:r>
              <a:rPr lang="en-US" sz="4800" u="sng" dirty="0">
                <a:latin typeface="Arial Black" panose="020B0A04020102020204" pitchFamily="34" charset="0"/>
              </a:rPr>
              <a:t>Objectives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4400" dirty="0"/>
              <a:t> Predict vaccination behavior.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4400" dirty="0"/>
              <a:t> Identify its key influencing factors</a:t>
            </a:r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4010818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580AE-AAE2-4D96-BD51-D7EA5FC6E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u="sng" dirty="0">
                <a:latin typeface="Copperplate Gothic Bold" panose="020E0705020206020404" pitchFamily="34" charset="0"/>
              </a:rPr>
              <a:t>Business Problem</a:t>
            </a:r>
            <a:endParaRPr lang="en-KE" sz="6000" b="1" u="sng" dirty="0">
              <a:latin typeface="Copperplate Gothic Bold" panose="020E07050202060204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37B89-31BC-472C-9F51-DC1B2A6CF0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600" dirty="0"/>
              <a:t> Public health organizations need better ways to identify individuals who are likely or unlikely to get vaccinated.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/>
              <a:t>Public health organizations need better ways to  target individuals who are likely or unlikely to get vaccinated.</a:t>
            </a:r>
            <a:endParaRPr lang="en-KE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0077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DB1EA-695E-4D2E-8E11-367D81034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u="sng" dirty="0">
                <a:latin typeface="Copperplate Gothic Bold" panose="020E0705020206020404" pitchFamily="34" charset="0"/>
              </a:rPr>
              <a:t>Data Overview</a:t>
            </a:r>
            <a:endParaRPr lang="en-KE" sz="6000" b="1" u="sng" dirty="0">
              <a:latin typeface="Copperplate Gothic Bold" panose="020E07050202060204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36FAA-D3D6-4E72-9772-83EA2CF63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56495" cy="4351338"/>
          </a:xfrm>
        </p:spPr>
        <p:txBody>
          <a:bodyPr>
            <a:normAutofit fontScale="850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600" dirty="0"/>
              <a:t>Dataset Details: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3600" dirty="0"/>
              <a:t>Number of records: 26,707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3600" dirty="0"/>
              <a:t>Number of columns: 38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3600" dirty="0"/>
              <a:t>Target Variable: h1n1_vaccine (Vaccinated vs not Vaccinated)</a:t>
            </a:r>
            <a:r>
              <a:rPr lang="en-US" sz="2800" dirty="0"/>
              <a:t>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/>
              <a:t>The dataset is imbalanced, with fewer vaccinated individuals.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/>
              <a:t>Dataset contains demographic and behavioral data</a:t>
            </a:r>
            <a:br>
              <a:rPr lang="en-US" sz="2400" dirty="0"/>
            </a:br>
            <a:endParaRPr lang="en-KE" sz="3600" dirty="0"/>
          </a:p>
        </p:txBody>
      </p:sp>
    </p:spTree>
    <p:extLst>
      <p:ext uri="{BB962C8B-B14F-4D97-AF65-F5344CB8AC3E}">
        <p14:creationId xmlns:p14="http://schemas.microsoft.com/office/powerpoint/2010/main" val="751787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25B8E14-D5A2-45E0-8C37-5906547C69E3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52475"/>
            <a:ext cx="6159500" cy="5668963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3F97E3F-5343-445E-BFD5-93445AE69CDD}"/>
              </a:ext>
            </a:extLst>
          </p:cNvPr>
          <p:cNvSpPr txBox="1"/>
          <p:nvPr/>
        </p:nvSpPr>
        <p:spPr>
          <a:xfrm>
            <a:off x="6335593" y="753174"/>
            <a:ext cx="58564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600" dirty="0"/>
              <a:t>The visualization displays how the data is imbalanced.</a:t>
            </a:r>
            <a:endParaRPr lang="en-KE" sz="3600" dirty="0"/>
          </a:p>
        </p:txBody>
      </p:sp>
    </p:spTree>
    <p:extLst>
      <p:ext uri="{BB962C8B-B14F-4D97-AF65-F5344CB8AC3E}">
        <p14:creationId xmlns:p14="http://schemas.microsoft.com/office/powerpoint/2010/main" val="3193153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4DE6E-7B5D-4D81-91FA-982F7A040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04" y="0"/>
            <a:ext cx="12173596" cy="1325563"/>
          </a:xfrm>
        </p:spPr>
        <p:txBody>
          <a:bodyPr>
            <a:normAutofit/>
          </a:bodyPr>
          <a:lstStyle/>
          <a:p>
            <a:r>
              <a:rPr lang="en-US" sz="6000" b="1" u="sng" dirty="0">
                <a:latin typeface="Copperplate Gothic Bold" panose="020E0705020206020404" pitchFamily="34" charset="0"/>
              </a:rPr>
              <a:t>Key Influencing Features</a:t>
            </a:r>
            <a:endParaRPr lang="en-KE" sz="6000" b="1" u="sng" dirty="0">
              <a:latin typeface="Copperplate Gothic Bold" panose="020E07050202060204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92BBB5-7B79-425F-ACD7-E341BDC344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131" y="1049154"/>
            <a:ext cx="11733195" cy="5573027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600" dirty="0"/>
              <a:t>Both behavioral and perception-based factors strongly influence vaccination decisions</a:t>
            </a:r>
            <a:r>
              <a:rPr lang="en-US" dirty="0"/>
              <a:t>.</a:t>
            </a:r>
            <a:endParaRPr lang="en-K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2A8D60-5D2F-4B56-B41E-E2C438E812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612" y="2374717"/>
            <a:ext cx="8512028" cy="4141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472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25589-0981-4130-BF3E-C00F6C9DB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6000" b="1" u="sng" dirty="0">
                <a:latin typeface="Copperplate Gothic Bold" panose="020E0705020206020404" pitchFamily="34" charset="0"/>
              </a:rPr>
              <a:t>Modelling approach</a:t>
            </a:r>
            <a:endParaRPr lang="en-KE" sz="6000" b="1" u="sng" dirty="0">
              <a:latin typeface="Copperplate Gothic Bold" panose="020E07050202060204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1E323-8F29-4D6F-8DF7-F1E1D71BEC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758" y="1414914"/>
            <a:ext cx="11646568" cy="512064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600" dirty="0"/>
              <a:t>We used multiple models and improved them iteratively.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/>
              <a:t>The models used involve: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600" dirty="0"/>
              <a:t>A logistic regression (Baseline Model)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600" dirty="0"/>
              <a:t>A decision tree model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600" dirty="0"/>
              <a:t>A balanced logistic regression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600" dirty="0"/>
              <a:t>A balanced decision tree model</a:t>
            </a:r>
          </a:p>
          <a:p>
            <a:pPr>
              <a:buFont typeface="Wingdings" panose="05000000000000000000" pitchFamily="2" charset="2"/>
              <a:buChar char="Ø"/>
            </a:pPr>
            <a:endParaRPr lang="en-KE" sz="3600" dirty="0"/>
          </a:p>
        </p:txBody>
      </p:sp>
    </p:spTree>
    <p:extLst>
      <p:ext uri="{BB962C8B-B14F-4D97-AF65-F5344CB8AC3E}">
        <p14:creationId xmlns:p14="http://schemas.microsoft.com/office/powerpoint/2010/main" val="401412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D4ED48-C29C-448B-8C1F-D63F23C552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568" y="1462641"/>
            <a:ext cx="5317000" cy="446947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F80172F-4F33-4A3B-8934-13E7C73D6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052"/>
            <a:ext cx="12192000" cy="1103938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latin typeface="Arial Black" panose="020B0A04020102020204" pitchFamily="34" charset="0"/>
              </a:rPr>
              <a:t>Baseline Model Performance</a:t>
            </a:r>
            <a:endParaRPr lang="en-KE" sz="4800" b="1" dirty="0">
              <a:latin typeface="Arial Black" panose="020B0A040201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C8054B-84EE-45FE-80A6-10183691F964}"/>
              </a:ext>
            </a:extLst>
          </p:cNvPr>
          <p:cNvSpPr txBox="1"/>
          <p:nvPr/>
        </p:nvSpPr>
        <p:spPr>
          <a:xfrm>
            <a:off x="6208295" y="1989221"/>
            <a:ext cx="598370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/>
              <a:t>The model performed well overall but struggled to identify vaccinated individuals.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/>
              <a:t>The model had an accuracy of 84%.</a:t>
            </a:r>
            <a:endParaRPr lang="en-KE" sz="3600" dirty="0"/>
          </a:p>
        </p:txBody>
      </p:sp>
    </p:spTree>
    <p:extLst>
      <p:ext uri="{BB962C8B-B14F-4D97-AF65-F5344CB8AC3E}">
        <p14:creationId xmlns:p14="http://schemas.microsoft.com/office/powerpoint/2010/main" val="765566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40198-A2FB-44EA-8368-DB959250D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71073"/>
          </a:xfrm>
        </p:spPr>
        <p:txBody>
          <a:bodyPr>
            <a:normAutofit/>
          </a:bodyPr>
          <a:lstStyle/>
          <a:p>
            <a:pPr algn="ctr"/>
            <a:r>
              <a:rPr lang="en-US" sz="6000" dirty="0">
                <a:latin typeface="Arial Black" panose="020B0A04020102020204" pitchFamily="34" charset="0"/>
              </a:rPr>
              <a:t>Improving the Model</a:t>
            </a:r>
            <a:endParaRPr lang="en-KE" sz="6000" dirty="0">
              <a:latin typeface="Arial Black" panose="020B0A040201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742D3F-4484-4297-B927-654C1D7A8D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56" y="1459832"/>
            <a:ext cx="6391175" cy="5181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3544FF2-5262-4C37-AC8A-014B64B855B6}"/>
              </a:ext>
            </a:extLst>
          </p:cNvPr>
          <p:cNvSpPr txBox="1"/>
          <p:nvPr/>
        </p:nvSpPr>
        <p:spPr>
          <a:xfrm>
            <a:off x="6497053" y="920621"/>
            <a:ext cx="5694947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/>
              <a:t>Due to the imbalance noticed in the data, class weighing was applied to dissipate the issue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/>
              <a:t>Handling class imbalance significantly improved performance of both models.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/>
              <a:t>The Logistic Regression showed greater improvement of 30%.</a:t>
            </a:r>
            <a:endParaRPr lang="en-KE" sz="3200" dirty="0"/>
          </a:p>
        </p:txBody>
      </p:sp>
    </p:spTree>
    <p:extLst>
      <p:ext uri="{BB962C8B-B14F-4D97-AF65-F5344CB8AC3E}">
        <p14:creationId xmlns:p14="http://schemas.microsoft.com/office/powerpoint/2010/main" val="2581407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00D52-D60E-45D3-ABDA-1A62BD87A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62527"/>
          </a:xfrm>
        </p:spPr>
        <p:txBody>
          <a:bodyPr>
            <a:normAutofit/>
          </a:bodyPr>
          <a:lstStyle/>
          <a:p>
            <a:pPr algn="ctr"/>
            <a:r>
              <a:rPr lang="en-US" sz="6000" dirty="0">
                <a:latin typeface="Arial Black" panose="020B0A04020102020204" pitchFamily="34" charset="0"/>
              </a:rPr>
              <a:t>Model Comparison</a:t>
            </a:r>
            <a:endParaRPr lang="en-KE" sz="6000" dirty="0">
              <a:latin typeface="Arial Black" panose="020B0A040201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217093-9793-4889-AE87-7F0E807E61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507" y="962528"/>
            <a:ext cx="6275672" cy="56789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99BE42D-E5E5-422F-BE27-E7D42F4CE50D}"/>
              </a:ext>
            </a:extLst>
          </p:cNvPr>
          <p:cNvSpPr txBox="1"/>
          <p:nvPr/>
        </p:nvSpPr>
        <p:spPr>
          <a:xfrm>
            <a:off x="6545178" y="1267326"/>
            <a:ext cx="537731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600" dirty="0"/>
              <a:t>The Logistic Regression achieved a higher AUC (Area Under Curve) thus showing better overall classification ability.</a:t>
            </a:r>
            <a:endParaRPr lang="en-KE" sz="3600" dirty="0"/>
          </a:p>
        </p:txBody>
      </p:sp>
    </p:spTree>
    <p:extLst>
      <p:ext uri="{BB962C8B-B14F-4D97-AF65-F5344CB8AC3E}">
        <p14:creationId xmlns:p14="http://schemas.microsoft.com/office/powerpoint/2010/main" val="10442143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C345A-D45D-457C-8FF8-FF7D475E4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21380"/>
            <a:ext cx="12192001" cy="78927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dirty="0">
                <a:latin typeface="Arial Black" panose="020B0A04020102020204" pitchFamily="34" charset="0"/>
              </a:rPr>
              <a:t>Final Model Selection</a:t>
            </a:r>
            <a:endParaRPr lang="en-KE" sz="6000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48DA7-0FD4-419C-8584-AAE79E1752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632" y="1010652"/>
            <a:ext cx="11704320" cy="562596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Balanced Logistic Regression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>
                <a:cs typeface="Arial" panose="020B0604020202020204" pitchFamily="34" charset="0"/>
              </a:rPr>
              <a:t>The model showed the highest improvement in recall (about 30% increase).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>
                <a:cs typeface="Arial" panose="020B0604020202020204" pitchFamily="34" charset="0"/>
              </a:rPr>
              <a:t>The model is better at detecting the minority class.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>
                <a:cs typeface="Arial" panose="020B0604020202020204" pitchFamily="34" charset="0"/>
              </a:rPr>
              <a:t>The model has a higher AUC.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>
                <a:cs typeface="Arial" panose="020B0604020202020204" pitchFamily="34" charset="0"/>
              </a:rPr>
              <a:t>The model handles imbalance well.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>
                <a:cs typeface="Arial" panose="020B0604020202020204" pitchFamily="34" charset="0"/>
              </a:rPr>
              <a:t>The model is more interpretable and best at identifying the vaccinated individuals.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>
                <a:cs typeface="Arial" panose="020B0604020202020204" pitchFamily="34" charset="0"/>
              </a:rPr>
              <a:t>Thus this is the best model for predicting vaccination behavior and supporting targeted interventions.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3600" dirty="0"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KE" sz="3600" dirty="0"/>
          </a:p>
        </p:txBody>
      </p:sp>
    </p:spTree>
    <p:extLst>
      <p:ext uri="{BB962C8B-B14F-4D97-AF65-F5344CB8AC3E}">
        <p14:creationId xmlns:p14="http://schemas.microsoft.com/office/powerpoint/2010/main" val="37941497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4A95E-D771-4C4B-B555-ED716A73B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pperplate Gothic Bold" panose="020E0705020206020404" pitchFamily="34" charset="0"/>
              </a:rPr>
              <a:t>Recommendations</a:t>
            </a:r>
            <a:endParaRPr lang="en-KE" sz="60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pperplate Gothic Bold" panose="020E07050202060204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EDE1D-F328-4263-94B0-E49B47B4E8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257" y="2103119"/>
            <a:ext cx="11704320" cy="454793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600" dirty="0"/>
              <a:t>Increase doctor led vaccination campaigns.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/>
              <a:t>Improve public trust in vaccines.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/>
              <a:t>Target groups with lower vaccination likelihood.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/>
              <a:t>Use data driven strategies to improve outreach.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/>
              <a:t>Public health campaigns should focus on individuals less likely to get vaccinated. </a:t>
            </a:r>
            <a:endParaRPr lang="en-KE" sz="3600" dirty="0"/>
          </a:p>
        </p:txBody>
      </p:sp>
    </p:spTree>
    <p:extLst>
      <p:ext uri="{BB962C8B-B14F-4D97-AF65-F5344CB8AC3E}">
        <p14:creationId xmlns:p14="http://schemas.microsoft.com/office/powerpoint/2010/main" val="3556690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0B36D-2489-483F-B717-11D0E9154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pperplate Gothic Bold" panose="020E0705020206020404" pitchFamily="34" charset="0"/>
              </a:rPr>
              <a:t>Limitations</a:t>
            </a:r>
            <a:endParaRPr lang="en-KE" sz="60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pperplate Gothic Bold" panose="020E07050202060204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960CB-645E-4C62-9F05-6749B03848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005" y="2103120"/>
            <a:ext cx="11627319" cy="393192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4400" dirty="0"/>
              <a:t>Class imbalance affected the model performance.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4400" dirty="0"/>
              <a:t>Data is self-reported and thus may contain bias.</a:t>
            </a:r>
          </a:p>
        </p:txBody>
      </p:sp>
    </p:spTree>
    <p:extLst>
      <p:ext uri="{BB962C8B-B14F-4D97-AF65-F5344CB8AC3E}">
        <p14:creationId xmlns:p14="http://schemas.microsoft.com/office/powerpoint/2010/main" val="35856924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958BB-5F98-4295-8A9B-AB8CE623F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pperplate Gothic Bold" panose="020E0705020206020404" pitchFamily="34" charset="0"/>
              </a:rPr>
              <a:t>THANK YOU!</a:t>
            </a:r>
            <a:endParaRPr lang="en-KE" sz="60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pperplate Gothic Bold" panose="020E07050202060204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21A34-2ADB-49AD-97D7-51F989133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006" y="2103120"/>
            <a:ext cx="10894194" cy="393192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5400" dirty="0"/>
              <a:t>Any Questions?</a:t>
            </a:r>
            <a:endParaRPr lang="en-KE" sz="5400" dirty="0"/>
          </a:p>
        </p:txBody>
      </p:sp>
    </p:spTree>
    <p:extLst>
      <p:ext uri="{BB962C8B-B14F-4D97-AF65-F5344CB8AC3E}">
        <p14:creationId xmlns:p14="http://schemas.microsoft.com/office/powerpoint/2010/main" val="1420561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782</TotalTime>
  <Words>383</Words>
  <Application>Microsoft Office PowerPoint</Application>
  <PresentationFormat>Widescreen</PresentationFormat>
  <Paragraphs>55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Arial Black</vt:lpstr>
      <vt:lpstr>Century Gothic</vt:lpstr>
      <vt:lpstr>Copperplate Gothic Bold</vt:lpstr>
      <vt:lpstr>Garamond</vt:lpstr>
      <vt:lpstr>Wingdings</vt:lpstr>
      <vt:lpstr>Savon</vt:lpstr>
      <vt:lpstr>H1N1 Vaccine Prediction</vt:lpstr>
      <vt:lpstr>Overview</vt:lpstr>
      <vt:lpstr>Business Problem</vt:lpstr>
      <vt:lpstr>Data Overview</vt:lpstr>
      <vt:lpstr>PowerPoint Presentation</vt:lpstr>
      <vt:lpstr>Key Influencing Features</vt:lpstr>
      <vt:lpstr>Modelling approach</vt:lpstr>
      <vt:lpstr>Baseline Model Performance</vt:lpstr>
      <vt:lpstr>Improving the Model</vt:lpstr>
      <vt:lpstr>Model Comparison</vt:lpstr>
      <vt:lpstr>Final Model Selection</vt:lpstr>
      <vt:lpstr>Recommendations</vt:lpstr>
      <vt:lpstr>Limitations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H1N1 Vaccine Prediction Model</dc:title>
  <dc:creator>J Nyakiba</dc:creator>
  <cp:lastModifiedBy>J Nyakiba</cp:lastModifiedBy>
  <cp:revision>14</cp:revision>
  <dcterms:created xsi:type="dcterms:W3CDTF">2026-03-22T00:24:59Z</dcterms:created>
  <dcterms:modified xsi:type="dcterms:W3CDTF">2026-03-22T13:27:25Z</dcterms:modified>
</cp:coreProperties>
</file>